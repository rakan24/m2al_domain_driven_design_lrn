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43" y="6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CADCFC"/>
                </a:solidFill>
              </a:rPr>
              <a:t>TP Fil Rouge</a:t>
            </a:r>
            <a:endParaRPr lang="fr-FR" sz="2000" b="0" i="1" dirty="0">
              <a:solidFill>
                <a:srgbClr val="CADCF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Domain-Driven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ADCFC"/>
                </a:solidFill>
              </a:rPr>
              <a:t>E-commerce &amp; Livraison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M2 AL — </a:t>
            </a:r>
            <a:r>
              <a:rPr sz="1600" b="0" i="0" dirty="0" err="1">
                <a:solidFill>
                  <a:srgbClr val="FFFFFF"/>
                </a:solidFill>
              </a:rPr>
              <a:t>Présentation</a:t>
            </a:r>
            <a:r>
              <a:rPr sz="1600" b="0" i="0" dirty="0">
                <a:solidFill>
                  <a:srgbClr val="FFFFFF"/>
                </a:solidFill>
              </a:rPr>
              <a:t> </a:t>
            </a:r>
            <a:r>
              <a:rPr sz="1600" b="0" i="0" dirty="0" err="1">
                <a:solidFill>
                  <a:srgbClr val="FFFFFF"/>
                </a:solidFill>
              </a:rPr>
              <a:t>orale</a:t>
            </a:r>
            <a:endParaRPr lang="fr-FR" sz="1600" b="0" i="0" dirty="0">
              <a:solidFill>
                <a:srgbClr val="FFFFFF"/>
              </a:solidFill>
            </a:endParaRPr>
          </a:p>
          <a:p>
            <a:pPr algn="l"/>
            <a:r>
              <a:rPr lang="fr-FR" sz="1600" dirty="0">
                <a:solidFill>
                  <a:srgbClr val="FFFFFF"/>
                </a:solidFill>
              </a:rPr>
              <a:t>ROUSTAN Liam</a:t>
            </a:r>
            <a:endParaRPr sz="1600" b="0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0" y="5029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10 min + 5 min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Contexte &amp; Scénario choisi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Scénario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E-commerce &amp; Livraison
Plateforme de vente de produits physiques à destination
de clients particuliers.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Rôles utilisateurs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383280"/>
            <a:ext cx="109728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42900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44728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Responsable e-commerce — Pilote la stratégie, catalogue, KPIs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109728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406908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Opérationnel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873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Préparateur de commandes — Préparation physique &amp; expédition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63440"/>
            <a:ext cx="109728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4709159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7274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Client final — Consulte, commande, suit sa livraison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Problématiques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764792"/>
            <a:ext cx="73152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1691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</a:rPr>
              <a:t>Synchronisation commande / paiement / stock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331720"/>
            <a:ext cx="73152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22585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</a:rPr>
              <a:t>Traçabilité du cycle de vie des commandes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898648"/>
            <a:ext cx="73152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282549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</a:rPr>
              <a:t>Gestion des erreurs et exceptions métier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465576"/>
            <a:ext cx="73152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33924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</a:rPr>
              <a:t>Coordination systèmes internes &amp; partenaires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032504"/>
            <a:ext cx="73152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9593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</a:rPr>
              <a:t>Fiabilité et délais de livraison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Bounded Contexts identifiés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1554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727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ContexteCommande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Cœur du système — cycle de vie commande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3749039" cy="1554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3101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ContexteOrchestration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7490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Coordination inter-contextes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63440"/>
            <a:ext cx="3749039" cy="1554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4754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BFD4"/>
                </a:solidFill>
              </a:rPr>
              <a:t>SUPPORTING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5047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ContexteStock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486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Disponibilité produits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188720"/>
            <a:ext cx="3749039" cy="1554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BFD4"/>
                </a:solidFill>
              </a:rPr>
              <a:t>SUPPORTING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5727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ContexteLogistique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Préparation &amp; expédition colis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926080"/>
            <a:ext cx="3749039" cy="1554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BFD4"/>
                </a:solidFill>
              </a:rPr>
              <a:t>SUPPORTING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3101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ContexteLivraison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7490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Suivi livraison &amp; transporteurs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4663440"/>
            <a:ext cx="3749039" cy="1554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BFD4"/>
                </a:solidFill>
              </a:rPr>
              <a:t>SUPPORTING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047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ContextePanier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486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Intention d'achat pré-commande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1188720"/>
            <a:ext cx="3749039" cy="1554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80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</a:rPr>
              <a:t>GENERIC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15727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ContextePaiement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011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Transactions financières externalisées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2926080"/>
            <a:ext cx="3749039" cy="1554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8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</a:rPr>
              <a:t>GENERIC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3101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ContexteNotification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37490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Notifications clients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663440"/>
            <a:ext cx="3749039" cy="1554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3880" y="4754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</a:rPr>
              <a:t>GENERIC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5047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ContexteFacturation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5486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Génération documents comptables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 Map &amp; Patterns de 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Relations entre contextes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24028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Contexte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554480"/>
            <a:ext cx="224028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79" y="15727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Contexte cible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554480"/>
            <a:ext cx="196596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572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6492240" cy="4572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ContexteCommande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0299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ContextePaiement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2996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Customer/Supplier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68880"/>
            <a:ext cx="64922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5328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ContexteCommande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5328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532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Partnership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71800"/>
            <a:ext cx="6492240" cy="4572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035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0358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0358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Conformist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74720"/>
            <a:ext cx="64922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53872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53872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ContexteLogistique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5387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Conformist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77639"/>
            <a:ext cx="6492240" cy="4572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0416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ContexteLogistique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416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ContexteLivraison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041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Customer/Supplier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80560"/>
            <a:ext cx="64922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544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ContexteCommande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544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ContexteNotification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544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6167"/>
                </a:solidFill>
              </a:rPr>
              <a:t>Anticorruption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83480"/>
            <a:ext cx="6492240" cy="4572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047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ContextePaiement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047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761"/>
                </a:solidFill>
              </a:rPr>
              <a:t>ContexteFacturation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047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Customer/Supplier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Intégrations techniques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1554480"/>
            <a:ext cx="640080" cy="3657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33488" y="160020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15544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ContexteCommande → ContextePaiement
Validation de paiement synchrone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2743200"/>
            <a:ext cx="64008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33488" y="27889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Event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27432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ContexteOrchestration → ContexteLogistique
Publish/subscribe CommandeConfirmée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3931920"/>
            <a:ext cx="64008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33488" y="3977639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Event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39319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Contextes → ContexteNotification
Notifications multi-étapes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5120640"/>
            <a:ext cx="640080" cy="3657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33488" y="516636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51206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ContextePaiement → ContexteFacturation
Génération automatique facture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Agrégat clé &amp; Invariants — AgrégatCommande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029200" cy="5303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</a:rPr>
              <a:t>&lt;&lt;Agrégat&gt;&gt;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AgrégatCommande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4572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Racine : Commande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CommandeId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StatutCommande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Montant (OV)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AdresseLivraison (OV)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Paiement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457200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Référence externe (Id seulement)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→ ClientId (AgrégatClient)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09728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Invariants métier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600200"/>
            <a:ext cx="640080" cy="13716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INV-1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600200"/>
            <a:ext cx="5394960" cy="13716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Commande validée ⇒ paiement accepté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031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Aucune commande ne peut passer au statut
"confirmée" sans paiement accepté associé.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246120"/>
            <a:ext cx="640080" cy="13716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0" y="3749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INV-2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246120"/>
            <a:ext cx="5394960" cy="13716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337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Montant total &gt;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49039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Une commande doit toujours contenir
au moins un produit avec un prix positif.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4892040"/>
            <a:ext cx="640080" cy="13716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53949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INV-3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892040"/>
            <a:ext cx="5394960" cy="137160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9834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Commande livrée → non annulable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94959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Le statut "livrée" est terminal. Toute
demande de remboursement passe par un retour.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Scénario complet inter-contextes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143000"/>
            <a:ext cx="5029200" cy="50292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1704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9903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POST /api/commandes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64207"/>
            <a:ext cx="457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5328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468880"/>
            <a:ext cx="5029200" cy="50292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4963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ContexteCommande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24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Création Commande (statut: créée)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90088"/>
            <a:ext cx="457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50292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8587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794760"/>
            <a:ext cx="5029200" cy="50292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</a:rPr>
              <a:t>ContextePaiement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5079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Validation paiement → accepté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15968"/>
            <a:ext cx="45720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1846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5120640"/>
            <a:ext cx="5029200" cy="50292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1480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ContexteOrchestration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37667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Publie CommandeConfirmée (broker)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14300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12070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1143000"/>
            <a:ext cx="5029200" cy="50292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95160" y="11704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ContexteLogistique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139903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Préparation colis → CommandePréparée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664207"/>
            <a:ext cx="4572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246888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25328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2468880"/>
            <a:ext cx="5029200" cy="50292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60" y="24963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</a:rPr>
              <a:t>ContexteLivraison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2724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Assignation transporteur → expédition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990088"/>
            <a:ext cx="4572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3794760"/>
            <a:ext cx="502920" cy="502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38587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03720" y="3794760"/>
            <a:ext cx="5029200" cy="50292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95160" y="38221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</a:rPr>
              <a:t>ContexteNotification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05079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Notifications email à chaque étape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315968"/>
            <a:ext cx="45720" cy="3200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09360" y="5120640"/>
            <a:ext cx="502920" cy="502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09360" y="51846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5120640"/>
            <a:ext cx="5029200" cy="50292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5160" y="51480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</a:rPr>
              <a:t>ContexteFacturation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537667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Génération facture après paiement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151"/>
                </a:solidFill>
              </a:rPr>
              <a:t>15 événements métier déclenchés dans l'ordre 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hexagonale &amp;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53035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Adapters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(REST · DB · Messaging)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37360"/>
            <a:ext cx="4023360" cy="4023360"/>
          </a:xfrm>
          <a:prstGeom prst="rect">
            <a:avLst/>
          </a:prstGeom>
          <a:solidFill>
            <a:srgbClr val="A0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(Services applicatifs)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377440"/>
            <a:ext cx="237744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(Entités · OV · Invariants)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97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Runtime Docker Compose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260604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1691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commande-service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148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:8081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260604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paiement-service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3832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:8082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69080"/>
            <a:ext cx="260604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41605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orchestration-service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6177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:8083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303520"/>
            <a:ext cx="260604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53949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logistique-service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5852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:8084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600200"/>
            <a:ext cx="260604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1691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livraison-service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148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:8085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2834640"/>
            <a:ext cx="26060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0" y="29260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RabbitMQ (broker)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3832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:5672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4069080"/>
            <a:ext cx="2606040" cy="10058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41605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PostgreSQL ×8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6177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bases privées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5303520"/>
            <a:ext cx="2606040" cy="10058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53949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Prometheus + Grafana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852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:9090/:3000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Observabilité &amp; Métriques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Correlation 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UUID généré à l'entrée du REST Adapter.
Propagé dans toutes les couches et
dans les headers des événements broker.
Permet de reconstituer le parcours complet
d'une commande à travers tous les contextes.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Métriques métier exposées sur /metrics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977639"/>
            <a:ext cx="914400" cy="40233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4032503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counter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050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commandes_creees_total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970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Volume d'activité quotidien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98848"/>
            <a:ext cx="914400" cy="40233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45537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counter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262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paiements_refuses_total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183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Détection anomalies paiement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0055"/>
            <a:ext cx="914400" cy="40233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5074919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gauge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474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commandes_en_cours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3951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Charge instantanée du système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41264"/>
            <a:ext cx="914400" cy="40233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5596127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histogram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68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duree_preparation_secondes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607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Performance logistique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062471"/>
            <a:ext cx="914400" cy="40233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117335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counter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089903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</a:rPr>
              <a:t>livraisons_en_retard_total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6281927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Qualité service transporteurs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Log structuré (JSON)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554480"/>
            <a:ext cx="5577840" cy="4937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164592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{
  "timestamp": "2026-04-01T14:35:00Z",
  "level": "INFO",
  "service": "contexte-commande",
  "correlationId": "corr-550e...",
  "commandeId": "CMD-2026-1458",
  "action": "CréerCommande",
  "statut": "créée",
  "montant": 89.99,
  "message": "Commande créée avec succès"
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Personnalisé</PresentationFormat>
  <Paragraphs>177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Liam ROUSTAN</cp:lastModifiedBy>
  <cp:revision>2</cp:revision>
  <dcterms:created xsi:type="dcterms:W3CDTF">2013-01-27T09:14:16Z</dcterms:created>
  <dcterms:modified xsi:type="dcterms:W3CDTF">2026-04-28T12:35:01Z</dcterms:modified>
  <cp:category/>
</cp:coreProperties>
</file>