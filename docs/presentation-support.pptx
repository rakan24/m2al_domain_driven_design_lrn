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66" d="100"/>
          <a:sy n="66" d="100"/>
        </p:scale>
        <p:origin x="1301" y="31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88952" cy="210312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 dirty="0">
                <a:solidFill>
                  <a:srgbClr val="CADCFC"/>
                </a:solidFill>
              </a:rPr>
              <a:t>TP Fil Rouge</a:t>
            </a:r>
            <a:endParaRPr lang="fr-FR" sz="2000" b="0" i="1" dirty="0">
              <a:solidFill>
                <a:srgbClr val="CADCFC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</a:rPr>
              <a:t>Domain-Driven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CADCFC"/>
                </a:solidFill>
              </a:rPr>
              <a:t>E-commerce &amp; Livraison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FFFFFF"/>
                </a:solidFill>
              </a:rPr>
              <a:t>M2 AL — </a:t>
            </a:r>
            <a:r>
              <a:rPr sz="1600" b="0" i="0" dirty="0" err="1">
                <a:solidFill>
                  <a:srgbClr val="FFFFFF"/>
                </a:solidFill>
              </a:rPr>
              <a:t>Présentation</a:t>
            </a:r>
            <a:r>
              <a:rPr sz="1600" b="0" i="0" dirty="0">
                <a:solidFill>
                  <a:srgbClr val="FFFFFF"/>
                </a:solidFill>
              </a:rPr>
              <a:t> </a:t>
            </a:r>
            <a:r>
              <a:rPr sz="1600" b="0" i="0" dirty="0" err="1">
                <a:solidFill>
                  <a:srgbClr val="FFFFFF"/>
                </a:solidFill>
              </a:rPr>
              <a:t>orale</a:t>
            </a:r>
            <a:endParaRPr lang="fr-FR" sz="1600" b="0" i="0" dirty="0">
              <a:solidFill>
                <a:srgbClr val="FFFFFF"/>
              </a:solidFill>
            </a:endParaRPr>
          </a:p>
          <a:p>
            <a:pPr algn="l"/>
            <a:r>
              <a:rPr lang="fr-FR" sz="1600" dirty="0">
                <a:solidFill>
                  <a:srgbClr val="FFFFFF"/>
                </a:solidFill>
              </a:rPr>
              <a:t>ROUSTAN Liam</a:t>
            </a:r>
            <a:endParaRPr sz="1600" b="0" i="0" dirty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772400" y="50292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10 min + 5 min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Contexte &amp; Scénario choisi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</a:rPr>
              <a:t>Scénario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</a:rPr>
              <a:t>E-commerce &amp; Livraison
Plateforme de vente de produits physiques à destination
de clients particuliers.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</a:rPr>
              <a:t>Rôles utilisateurs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383280"/>
            <a:ext cx="109728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34290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Direction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44728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761"/>
                </a:solidFill>
              </a:rPr>
              <a:t>Responsable e-commerce — Pilote la stratégie, catalogue, KPIs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023360"/>
            <a:ext cx="109728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84048" y="406908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Opérationnel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08736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761"/>
                </a:solidFill>
              </a:rPr>
              <a:t>Préparateur de commandes — Préparation physique &amp; expédition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663440"/>
            <a:ext cx="109728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4048" y="4709159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Client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72744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761"/>
                </a:solidFill>
              </a:rPr>
              <a:t>Client final — Consulte, commande, suit sa livraison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</a:rPr>
              <a:t>Problématiques clés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1764792"/>
            <a:ext cx="73152" cy="3200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12280" y="1691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761"/>
                </a:solidFill>
              </a:rPr>
              <a:t>Synchronisation commande / paiement / stock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2331720"/>
            <a:ext cx="73152" cy="3200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12280" y="2258568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761"/>
                </a:solidFill>
              </a:rPr>
              <a:t>Traçabilité du cycle de vie des commandes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2898648"/>
            <a:ext cx="73152" cy="3200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12280" y="2825496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761"/>
                </a:solidFill>
              </a:rPr>
              <a:t>Gestion des erreurs et exceptions métier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0" y="3465576"/>
            <a:ext cx="73152" cy="3200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12280" y="33924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761"/>
                </a:solidFill>
              </a:rPr>
              <a:t>Coordination systèmes internes &amp; partenaires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4032504"/>
            <a:ext cx="73152" cy="3200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12280" y="395935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761"/>
                </a:solidFill>
              </a:rPr>
              <a:t>Fiabilité et délais de livraison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Bounded Contexts identifiés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3749039" cy="1554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79" y="12801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</a:rPr>
              <a:t>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15727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ContexteCommande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201168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</a:rPr>
              <a:t>Cœur du système — cycle de vie commande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926080"/>
            <a:ext cx="3749039" cy="1554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79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331012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ContexteOrchestration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74904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</a:rPr>
              <a:t>Coordination inter-contextes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663440"/>
            <a:ext cx="3749039" cy="15544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1479" y="47548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BFD4"/>
                </a:solidFill>
              </a:rPr>
              <a:t>SUPPORTING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504748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ContexteStock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548640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</a:rPr>
              <a:t>Disponibilité produits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1188720"/>
            <a:ext cx="3749039" cy="15544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0" y="12801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BFD4"/>
                </a:solidFill>
              </a:rPr>
              <a:t>SUPPORTING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15727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ContexteLogistique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201168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</a:rPr>
              <a:t>Préparation &amp; expédition colis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60520" y="2926080"/>
            <a:ext cx="3749039" cy="15544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97680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BFD4"/>
                </a:solidFill>
              </a:rPr>
              <a:t>SUPPORTING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331012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ContexteLivraison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74904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</a:rPr>
              <a:t>Suivi livraison &amp; transporteurs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60520" y="4663440"/>
            <a:ext cx="3749039" cy="15544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297680" y="47548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BFD4"/>
                </a:solidFill>
              </a:rPr>
              <a:t>SUPPORTING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504748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ContextePanier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548640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</a:rPr>
              <a:t>Intention d'achat pré-commande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0" y="1188720"/>
            <a:ext cx="3749039" cy="155448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83880" y="12801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CA3AF"/>
                </a:solidFill>
              </a:rPr>
              <a:t>GENERIC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15727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ContextePaiement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201168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</a:rPr>
              <a:t>Transactions financières externalisées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46720" y="2926080"/>
            <a:ext cx="3749039" cy="155448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183880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CA3AF"/>
                </a:solidFill>
              </a:rPr>
              <a:t>GENERIC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80" y="331012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ContexteNotification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3880" y="374904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</a:rPr>
              <a:t>Notifications clients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46720" y="4663440"/>
            <a:ext cx="3749039" cy="155448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183880" y="47548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CA3AF"/>
                </a:solidFill>
              </a:rPr>
              <a:t>GENERIC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83880" y="504748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ContexteFacturation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83880" y="548640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</a:rPr>
              <a:t>Génération documents comptables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Context Map &amp; Patterns de 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</a:rPr>
              <a:t>Relations entre contextes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2240280" cy="3657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57276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Contexte source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1554480"/>
            <a:ext cx="2240280" cy="3657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97479" y="157276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Contexte cible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554480"/>
            <a:ext cx="1965960" cy="3657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83480" y="157276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Pattern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965960"/>
            <a:ext cx="6492240" cy="457200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029967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761"/>
                </a:solidFill>
              </a:rPr>
              <a:t>ContexteCommande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029967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761"/>
                </a:solidFill>
              </a:rPr>
              <a:t>ContextePaiement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029967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</a:rPr>
              <a:t>Customer/Supplier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68880"/>
            <a:ext cx="6492240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253288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761"/>
                </a:solidFill>
              </a:rPr>
              <a:t>ContexteCommande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53288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761"/>
                </a:solidFill>
              </a:rPr>
              <a:t>ContexteOrchestration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53288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761"/>
                </a:solidFill>
              </a:rPr>
              <a:t>Partnership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971800"/>
            <a:ext cx="6492240" cy="457200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303580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761"/>
                </a:solidFill>
              </a:rPr>
              <a:t>ContexteOrchestration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03580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761"/>
                </a:solidFill>
              </a:rPr>
              <a:t>ContexteStock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03580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</a:rPr>
              <a:t>Conformist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474720"/>
            <a:ext cx="6492240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3538727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761"/>
                </a:solidFill>
              </a:rPr>
              <a:t>ContexteOrchestration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3538727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761"/>
                </a:solidFill>
              </a:rPr>
              <a:t>ContexteLogistique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3538727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</a:rPr>
              <a:t>Conformist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977639"/>
            <a:ext cx="6492240" cy="457200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404164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761"/>
                </a:solidFill>
              </a:rPr>
              <a:t>ContexteLogistique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404164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761"/>
                </a:solidFill>
              </a:rPr>
              <a:t>ContexteLivraison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04164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</a:rPr>
              <a:t>Customer/Supplier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480560"/>
            <a:ext cx="6492240" cy="457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454456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761"/>
                </a:solidFill>
              </a:rPr>
              <a:t>ContexteCommande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454456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761"/>
                </a:solidFill>
              </a:rPr>
              <a:t>ContexteNotification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0" y="454456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96167"/>
                </a:solidFill>
              </a:rPr>
              <a:t>Anticorruption Layer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983480"/>
            <a:ext cx="6492240" cy="457200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7200" y="504748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761"/>
                </a:solidFill>
              </a:rPr>
              <a:t>ContextePaiement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504748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761"/>
                </a:solidFill>
              </a:rPr>
              <a:t>ContexteFacturation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0" y="504748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</a:rPr>
              <a:t>Customer/Supplier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1097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</a:rPr>
              <a:t>Intégrations techniques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0" y="1554480"/>
            <a:ext cx="640080" cy="36576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333488" y="160020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REST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0" y="15544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761"/>
                </a:solidFill>
              </a:rPr>
              <a:t>ContexteCommande → ContextePaiement
Validation de paiement synchrone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0" y="2743200"/>
            <a:ext cx="640080" cy="3657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333488" y="278892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Event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0" y="274320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761"/>
                </a:solidFill>
              </a:rPr>
              <a:t>ContexteOrchestration → ContexteLogistique
Publish/subscribe CommandeConfirmée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0" y="3931920"/>
            <a:ext cx="640080" cy="3657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333488" y="3977639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Event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0" y="393192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761"/>
                </a:solidFill>
              </a:rPr>
              <a:t>Contextes → ContexteNotification
Notifications multi-étapes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0" y="5120640"/>
            <a:ext cx="640080" cy="36576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333488" y="516636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REST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46720" y="512064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761"/>
                </a:solidFill>
              </a:rPr>
              <a:t>ContextePaiement → ContexteFacturation
Génération automatique facture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Agrégat clé &amp; Invariants — AgrégatCommande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029200" cy="5303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ADCFC"/>
                </a:solidFill>
              </a:rPr>
              <a:t>&lt;&lt;Agrégat&gt;&gt;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AgrégatCommande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4572000" cy="36576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</a:rPr>
              <a:t>Racine : Commande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▸  CommandeId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718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▸  StatutCommande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83279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▸  Montant (OV)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▸  AdresseLivraison (OV)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▸  Paiement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709160"/>
            <a:ext cx="4572000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48006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Référence externe (Id seulement)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749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</a:rPr>
              <a:t>→ ClientId (AgrégatClient)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109728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</a:rPr>
              <a:t>Invariants métier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0" y="1600200"/>
            <a:ext cx="640080" cy="137160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60720" y="21031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INV-1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1600200"/>
            <a:ext cx="5394960" cy="1371600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3680" y="169164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</a:rPr>
              <a:t>Commande validée ⇒ paiement accepté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10312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74151"/>
                </a:solidFill>
              </a:rPr>
              <a:t>Aucune commande ne peut passer au statut
"confirmée" sans paiement accepté associé.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60720" y="3246120"/>
            <a:ext cx="640080" cy="137160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760720" y="3749039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INV-2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3246120"/>
            <a:ext cx="5394960" cy="1371600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83680" y="33375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</a:rPr>
              <a:t>Montant total &gt; 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749039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74151"/>
                </a:solidFill>
              </a:rPr>
              <a:t>Une commande doit toujours contenir
au moins un produit avec un prix positif.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60720" y="4892040"/>
            <a:ext cx="640080" cy="137160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760720" y="5394959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INV-3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4892040"/>
            <a:ext cx="5394960" cy="1371600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83680" y="4983479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</a:rPr>
              <a:t>Commande livrée → non annulable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5394959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74151"/>
                </a:solidFill>
              </a:rPr>
              <a:t>Le statut "livrée" est terminal. Toute
demande de remboursement passe par un retour.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Scénario complet inter-contextes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029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20700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1143000"/>
            <a:ext cx="5029200" cy="502920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117043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</a:rPr>
              <a:t>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399032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761"/>
                </a:solidFill>
              </a:rPr>
              <a:t>POST /api/commandes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64207"/>
            <a:ext cx="45720" cy="3200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2468880"/>
            <a:ext cx="5029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253288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2468880"/>
            <a:ext cx="5029200" cy="502920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249631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</a:rPr>
              <a:t>ContexteCommande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724912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761"/>
                </a:solidFill>
              </a:rPr>
              <a:t>Création Commande (statut: créée)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990088"/>
            <a:ext cx="45720" cy="3200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5760" y="3794760"/>
            <a:ext cx="502920" cy="50292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385876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" y="3794760"/>
            <a:ext cx="5029200" cy="502920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382219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167"/>
                </a:solidFill>
              </a:rPr>
              <a:t>ContextePaiement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050792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761"/>
                </a:solidFill>
              </a:rPr>
              <a:t>Validation paiement → accepté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315968"/>
            <a:ext cx="45720" cy="3200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5760" y="5120640"/>
            <a:ext cx="502920" cy="5029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518464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" y="5120640"/>
            <a:ext cx="5029200" cy="502920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51560" y="514807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5A82"/>
                </a:solidFill>
              </a:rPr>
              <a:t>ContexteOrchestration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5376672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761"/>
                </a:solidFill>
              </a:rPr>
              <a:t>Publie CommandeConfirmée (broker)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1143000"/>
            <a:ext cx="502920" cy="5029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09360" y="120700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03720" y="1143000"/>
            <a:ext cx="5029200" cy="502920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95160" y="117043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5A82"/>
                </a:solidFill>
              </a:rPr>
              <a:t>ContexteLogistique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1399032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761"/>
                </a:solidFill>
              </a:rPr>
              <a:t>Préparation colis → CommandePréparée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1664207"/>
            <a:ext cx="45720" cy="3200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309360" y="2468880"/>
            <a:ext cx="502920" cy="5029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09360" y="253288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03720" y="2468880"/>
            <a:ext cx="5029200" cy="502920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995160" y="249631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5A82"/>
                </a:solidFill>
              </a:rPr>
              <a:t>ContexteLivraison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2724912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761"/>
                </a:solidFill>
              </a:rPr>
              <a:t>Assignation transporteur → expédition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92240" y="2990088"/>
            <a:ext cx="45720" cy="3200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3794760"/>
            <a:ext cx="502920" cy="5029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309360" y="385876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903720" y="3794760"/>
            <a:ext cx="5029200" cy="502920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995160" y="382219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4151"/>
                </a:solidFill>
              </a:rPr>
              <a:t>ContexteNotification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60" y="4050792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761"/>
                </a:solidFill>
              </a:rPr>
              <a:t>Notifications email à chaque étape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4315968"/>
            <a:ext cx="45720" cy="32004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309360" y="5120640"/>
            <a:ext cx="502920" cy="5029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09360" y="518464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03720" y="5120640"/>
            <a:ext cx="5029200" cy="502920"/>
          </a:xfrm>
          <a:prstGeom prst="rect">
            <a:avLst/>
          </a:prstGeom>
          <a:solidFill>
            <a:srgbClr val="E8E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995160" y="514807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4151"/>
                </a:solidFill>
              </a:rPr>
              <a:t>ContexteFacturation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0" y="5376672"/>
            <a:ext cx="4754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761"/>
                </a:solidFill>
              </a:rPr>
              <a:t>Génération facture après paiement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63093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74151"/>
                </a:solidFill>
              </a:rPr>
              <a:t>15 événements métier déclenchés dans l'ordre 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Architecture hexagonale &amp; Runtime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5486400" cy="530352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</a:rPr>
              <a:t>Adapters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E2761"/>
                </a:solidFill>
              </a:rPr>
              <a:t>(REST · DB · Messaging)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737360"/>
            <a:ext cx="4023360" cy="4023360"/>
          </a:xfrm>
          <a:prstGeom prst="rect">
            <a:avLst/>
          </a:prstGeom>
          <a:solidFill>
            <a:srgbClr val="A0B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</a:rPr>
              <a:t>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945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E2761"/>
                </a:solidFill>
              </a:rPr>
              <a:t>(Services applicatifs)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2377440"/>
            <a:ext cx="237744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920240" y="24688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8346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</a:rPr>
              <a:t>(Entités · OV · Invariants)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09728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</a:rPr>
              <a:t>Runtime Docker Compose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600200"/>
            <a:ext cx="2606040" cy="10058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59" y="169164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commande-service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214884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</a:rPr>
              <a:t>:8081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834640"/>
            <a:ext cx="2606040" cy="10058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9359" y="292608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paiement-service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338328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</a:rPr>
              <a:t>:8082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4069080"/>
            <a:ext cx="2606040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09359" y="41605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orchestration-service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461772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</a:rPr>
              <a:t>:8083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5303520"/>
            <a:ext cx="2606040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09359" y="53949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logistique-service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585216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</a:rPr>
              <a:t>:8084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52560" y="1600200"/>
            <a:ext cx="2606040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0" y="169164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livraison-service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14884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</a:rPr>
              <a:t>:8085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52560" y="2834640"/>
            <a:ext cx="2606040" cy="10058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44000" y="292608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RabbitMQ (broker)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338328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</a:rPr>
              <a:t>:5672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52560" y="4069080"/>
            <a:ext cx="2606040" cy="100584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44000" y="416052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PostgreSQL ×8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461772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</a:rPr>
              <a:t>bases privées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52560" y="5303520"/>
            <a:ext cx="2606040" cy="100584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144000" y="53949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Prometheus + Grafana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585216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</a:rPr>
              <a:t>:9090/:3000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Observabilité &amp; Métriques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</a:rPr>
              <a:t>Correlation ID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5486400" cy="1828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</a:rPr>
              <a:t>UUID généré à l'entrée du REST Adapter.
Propagé dans toutes les couches et
dans les headers des événements broker.
Permet de reconstituer le parcours complet
d'une commande à travers tous les contextes.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520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</a:rPr>
              <a:t>Métriques métier exposées sur /metrics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977639"/>
            <a:ext cx="914400" cy="40233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4032503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counter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00507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761"/>
                </a:solidFill>
              </a:rPr>
              <a:t>commandes_creees_total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1970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</a:rPr>
              <a:t>Volume d'activité quotidien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498848"/>
            <a:ext cx="914400" cy="40233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455371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counter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526280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761"/>
                </a:solidFill>
              </a:rPr>
              <a:t>paiements_refuses_total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7183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</a:rPr>
              <a:t>Détection anomalies paiement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020055"/>
            <a:ext cx="914400" cy="402336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5074919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gauge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04748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761"/>
                </a:solidFill>
              </a:rPr>
              <a:t>commandes_en_cours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23951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</a:rPr>
              <a:t>Charge instantanée du système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541264"/>
            <a:ext cx="914400" cy="402336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5596127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histogram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568696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761"/>
                </a:solidFill>
              </a:rPr>
              <a:t>duree_preparation_secondes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76072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</a:rPr>
              <a:t>Performance logistique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6062471"/>
            <a:ext cx="914400" cy="40233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" y="6117335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counter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6089903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761"/>
                </a:solidFill>
              </a:rPr>
              <a:t>livraisons_en_retard_total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6281927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</a:rPr>
              <a:t>Qualité service transporteurs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</a:rPr>
              <a:t>Log structuré (JSON)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1554480"/>
            <a:ext cx="5577840" cy="493776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55080" y="1645920"/>
            <a:ext cx="5303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</a:rPr>
              <a:t>{
  "timestamp": "2026-04-01T14:35:00Z",
  "level": "INFO",
  "service": "contexte-commande",
  "correlationId": "corr-550e...",
  "commandeId": "CMD-2026-1458",
  "action": "CréerCommande",
  "statut": "créée",
  "montant": 89.99,
  "message": "Commande créée avec succès"
}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82F1B7B3-AB04-BBE8-364D-73F2A42EFF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1473" y="3683550"/>
            <a:ext cx="5150734" cy="2743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650</Words>
  <Application>Microsoft Office PowerPoint</Application>
  <PresentationFormat>Personnalisé</PresentationFormat>
  <Paragraphs>177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Liam ROUSTAN</cp:lastModifiedBy>
  <cp:revision>3</cp:revision>
  <dcterms:created xsi:type="dcterms:W3CDTF">2013-01-27T09:14:16Z</dcterms:created>
  <dcterms:modified xsi:type="dcterms:W3CDTF">2026-04-28T14:01:38Z</dcterms:modified>
  <cp:category/>
</cp:coreProperties>
</file>